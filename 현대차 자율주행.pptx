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5" r:id="rId2"/>
    <p:sldId id="273" r:id="rId3"/>
    <p:sldId id="275" r:id="rId4"/>
    <p:sldId id="274" r:id="rId5"/>
    <p:sldId id="276" r:id="rId6"/>
    <p:sldId id="277" r:id="rId7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5">
          <p15:clr>
            <a:srgbClr val="A4A3A4"/>
          </p15:clr>
        </p15:guide>
        <p15:guide id="2" orient="horz" pos="4121">
          <p15:clr>
            <a:srgbClr val="A4A3A4"/>
          </p15:clr>
        </p15:guide>
        <p15:guide id="3" pos="5524">
          <p15:clr>
            <a:srgbClr val="A4A3A4"/>
          </p15:clr>
        </p15:guide>
        <p15:guide id="4" pos="1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DF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645"/>
        <p:guide orient="horz" pos="4121"/>
        <p:guide pos="5524"/>
        <p:guide pos="1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E076D8-9648-4574-97AA-656019B403BB}" type="datetimeFigureOut">
              <a:rPr lang="ko-KR" altLang="en-US" smtClean="0"/>
              <a:pPr/>
              <a:t>2020-08-04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18FF7-88ED-4737-8440-1EF93C102A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1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82050" y="6588128"/>
            <a:ext cx="361950" cy="2698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fld id="{836C5FBF-8E08-442C-84B5-0A240EA9A15C}" type="slidenum">
              <a:rPr kumimoji="1" lang="en-US" altLang="ko-KR" smtClean="0">
                <a:solidFill>
                  <a:srgbClr val="000000"/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>
              <a:solidFill>
                <a:srgbClr val="000000"/>
              </a:solidFill>
            </a:endParaRPr>
          </a:p>
        </p:txBody>
      </p:sp>
      <p:cxnSp>
        <p:nvCxnSpPr>
          <p:cNvPr id="4" name="직선 연결선 3"/>
          <p:cNvCxnSpPr/>
          <p:nvPr userDrawn="1"/>
        </p:nvCxnSpPr>
        <p:spPr>
          <a:xfrm flipV="1">
            <a:off x="331179" y="728663"/>
            <a:ext cx="8478715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1"/>
          <p:cNvSpPr>
            <a:spLocks noChangeArrowheads="1"/>
          </p:cNvSpPr>
          <p:nvPr userDrawn="1"/>
        </p:nvSpPr>
        <p:spPr bwMode="auto">
          <a:xfrm>
            <a:off x="331177" y="728663"/>
            <a:ext cx="3323492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fontAlgn="base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992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9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11662" y="6584951"/>
            <a:ext cx="57882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848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l" defTabSz="957838" eaLnBrk="1" fontAlgn="auto" latinLnBrk="1" hangingPunct="1">
              <a:spcBef>
                <a:spcPts val="0"/>
              </a:spcBef>
              <a:spcAft>
                <a:spcPts val="0"/>
              </a:spcAft>
              <a:defRPr kumimoji="0" sz="13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6A342CC-A234-49B4-BBE8-4E28324EB846}" type="datetime1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2020-08-04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300" b="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defTabSz="95726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300" b="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defTabSz="957263" fontAlgn="base">
              <a:spcBef>
                <a:spcPct val="0"/>
              </a:spcBef>
              <a:spcAft>
                <a:spcPct val="0"/>
              </a:spcAft>
              <a:defRPr/>
            </a:pPr>
            <a:fld id="{0A928778-93AE-4550-BDEE-13071B97FF52}" type="slidenum">
              <a:rPr lang="ko-KR" altLang="en-US"/>
              <a:pPr defTabSz="95726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ctrTitle" idx="4294967295"/>
          </p:nvPr>
        </p:nvSpPr>
        <p:spPr>
          <a:xfrm>
            <a:off x="323528" y="258291"/>
            <a:ext cx="8570913" cy="506413"/>
          </a:xfrm>
        </p:spPr>
        <p:txBody>
          <a:bodyPr/>
          <a:lstStyle/>
          <a:p>
            <a:pPr algn="l"/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5. 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무인자율주행시스템 아키텍처 및 알고리즘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판단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ko-KR" sz="2400" dirty="0"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E7E444-2D66-49DA-B1FD-8871BF46D57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914" y="1560239"/>
            <a:ext cx="7223486" cy="28048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DF0609-344C-40A9-8EA9-5DF83FA03F48}"/>
              </a:ext>
            </a:extLst>
          </p:cNvPr>
          <p:cNvSpPr txBox="1"/>
          <p:nvPr/>
        </p:nvSpPr>
        <p:spPr>
          <a:xfrm>
            <a:off x="1259632" y="119090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사고차량 통과 순서도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52711-4B7C-439F-A78B-60B37A2A6C60}"/>
              </a:ext>
            </a:extLst>
          </p:cNvPr>
          <p:cNvSpPr txBox="1"/>
          <p:nvPr/>
        </p:nvSpPr>
        <p:spPr>
          <a:xfrm>
            <a:off x="1043608" y="4572739"/>
            <a:ext cx="6840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ko-KR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차량 진입 순서도</a:t>
            </a:r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416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ctrTitle" idx="4294967295"/>
          </p:nvPr>
        </p:nvSpPr>
        <p:spPr>
          <a:xfrm>
            <a:off x="323528" y="258291"/>
            <a:ext cx="8570913" cy="506413"/>
          </a:xfrm>
        </p:spPr>
        <p:txBody>
          <a:bodyPr/>
          <a:lstStyle/>
          <a:p>
            <a:pPr algn="l"/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5. 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무인자율주행시스템 아키텍처 및 알고리즘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판단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ko-KR" sz="2400" dirty="0"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51A98C-0101-4CA3-91BD-D63BC12F516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581" y="2195270"/>
            <a:ext cx="2426895" cy="32861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6669BD-9795-4E0B-9B93-2A6C23B9C8B8}"/>
              </a:ext>
            </a:extLst>
          </p:cNvPr>
          <p:cNvSpPr txBox="1"/>
          <p:nvPr/>
        </p:nvSpPr>
        <p:spPr>
          <a:xfrm>
            <a:off x="395536" y="5651956"/>
            <a:ext cx="288032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경로를 밀지 않는 경우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7C8B12-8C2A-4A39-943C-3E6A3408ADCA}"/>
              </a:ext>
            </a:extLst>
          </p:cNvPr>
          <p:cNvSpPr txBox="1"/>
          <p:nvPr/>
        </p:nvSpPr>
        <p:spPr>
          <a:xfrm>
            <a:off x="6401530" y="5575186"/>
            <a:ext cx="248602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경로를 밀어 생성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8F0945-2932-4A92-9E9D-7610CE07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60" y="2168195"/>
            <a:ext cx="2426896" cy="33402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E3A018-F654-422E-B0FD-03D1D2370498}"/>
              </a:ext>
            </a:extLst>
          </p:cNvPr>
          <p:cNvSpPr txBox="1"/>
          <p:nvPr/>
        </p:nvSpPr>
        <p:spPr>
          <a:xfrm>
            <a:off x="703999" y="1342826"/>
            <a:ext cx="7736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차량 진입이 늦어지면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후미의 차량과 </a:t>
            </a:r>
            <a:r>
              <a:rPr lang="ko-KR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생성된 경로가 충돌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하는 문제 발생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→진입점을 이동하여 해결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F3DFB44-49D6-47CE-81C5-DA4B4FD9BD9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849" y="2066200"/>
            <a:ext cx="2810300" cy="350871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6C8F4D-463B-4726-A51E-4F5C1191B1DB}"/>
              </a:ext>
            </a:extLst>
          </p:cNvPr>
          <p:cNvSpPr/>
          <p:nvPr/>
        </p:nvSpPr>
        <p:spPr>
          <a:xfrm>
            <a:off x="4183189" y="3898208"/>
            <a:ext cx="854393" cy="66852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C4E8D8-3982-49A5-95A1-AF40A31EF13B}"/>
              </a:ext>
            </a:extLst>
          </p:cNvPr>
          <p:cNvSpPr/>
          <p:nvPr/>
        </p:nvSpPr>
        <p:spPr>
          <a:xfrm>
            <a:off x="4788024" y="3111463"/>
            <a:ext cx="792088" cy="78674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8E804B5-D305-4F16-B781-A8A81C882E15}"/>
              </a:ext>
            </a:extLst>
          </p:cNvPr>
          <p:cNvSpPr/>
          <p:nvPr/>
        </p:nvSpPr>
        <p:spPr>
          <a:xfrm>
            <a:off x="3096816" y="3034808"/>
            <a:ext cx="1512168" cy="17352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79E4C832-1E80-40F2-A166-80CD3FC7911C}"/>
              </a:ext>
            </a:extLst>
          </p:cNvPr>
          <p:cNvSpPr/>
          <p:nvPr/>
        </p:nvSpPr>
        <p:spPr>
          <a:xfrm rot="10800000">
            <a:off x="5436096" y="4574861"/>
            <a:ext cx="916716" cy="16169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01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ctrTitle" idx="4294967295"/>
          </p:nvPr>
        </p:nvSpPr>
        <p:spPr>
          <a:xfrm>
            <a:off x="323528" y="258291"/>
            <a:ext cx="8570913" cy="506413"/>
          </a:xfrm>
        </p:spPr>
        <p:txBody>
          <a:bodyPr/>
          <a:lstStyle/>
          <a:p>
            <a:pPr algn="l"/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5. 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무인자율주행시스템 아키텍처 및 알고리즘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판단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ko-KR" sz="2400" dirty="0"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8729968-66EF-4159-BD9A-E34B6C42DBD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97" y="1691516"/>
            <a:ext cx="684076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066696-2445-4234-9FDA-3616D671279B}"/>
              </a:ext>
            </a:extLst>
          </p:cNvPr>
          <p:cNvSpPr txBox="1"/>
          <p:nvPr/>
        </p:nvSpPr>
        <p:spPr>
          <a:xfrm>
            <a:off x="1052488" y="5272826"/>
            <a:ext cx="6840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ko-KR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차량 진출 순서도</a:t>
            </a:r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62370-8E70-4568-A1E4-559E7E19700D}"/>
              </a:ext>
            </a:extLst>
          </p:cNvPr>
          <p:cNvSpPr txBox="1"/>
          <p:nvPr/>
        </p:nvSpPr>
        <p:spPr>
          <a:xfrm>
            <a:off x="1259632" y="1043444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사고차량 통과 순서도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-2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995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ctrTitle" idx="4294967295"/>
          </p:nvPr>
        </p:nvSpPr>
        <p:spPr>
          <a:xfrm>
            <a:off x="323528" y="258291"/>
            <a:ext cx="8570913" cy="506413"/>
          </a:xfrm>
        </p:spPr>
        <p:txBody>
          <a:bodyPr/>
          <a:lstStyle/>
          <a:p>
            <a:pPr algn="l"/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5. 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무인자율주행시스템 아키텍처 및 알고리즘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판단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ko-KR" sz="2400" dirty="0"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20CD5ED-F2E9-43EF-BC58-D1C1ABD0BB35}"/>
              </a:ext>
            </a:extLst>
          </p:cNvPr>
          <p:cNvGrpSpPr/>
          <p:nvPr/>
        </p:nvGrpSpPr>
        <p:grpSpPr>
          <a:xfrm>
            <a:off x="683568" y="1700808"/>
            <a:ext cx="3165197" cy="4833828"/>
            <a:chOff x="737821" y="1484784"/>
            <a:chExt cx="3165197" cy="483382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522CA72-593E-44C6-A1E3-45B3105755BD}"/>
                </a:ext>
              </a:extLst>
            </p:cNvPr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7"/>
            <a:stretch/>
          </p:blipFill>
          <p:spPr bwMode="auto">
            <a:xfrm>
              <a:off x="737821" y="2348880"/>
              <a:ext cx="3147442" cy="3495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9AF28ABE-1F92-4BB9-9DEB-374A9555B5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884"/>
            <a:stretch/>
          </p:blipFill>
          <p:spPr>
            <a:xfrm>
              <a:off x="2817168" y="1484784"/>
              <a:ext cx="1085850" cy="86919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8F25F0A-DFB8-4CBA-98DC-36B214D3183D}"/>
                </a:ext>
              </a:extLst>
            </p:cNvPr>
            <p:cNvSpPr txBox="1"/>
            <p:nvPr/>
          </p:nvSpPr>
          <p:spPr>
            <a:xfrm>
              <a:off x="737821" y="5949280"/>
              <a:ext cx="3147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&lt;</a:t>
              </a:r>
              <a:r>
                <a:rPr lang="ko-KR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최단 거리 장애물 검출</a:t>
              </a:r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537CAE20-03B5-4D06-B15D-9F119387100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564904"/>
            <a:ext cx="4917454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1C2838-A8D9-4D2B-8D01-5ECE9C6F0F07}"/>
              </a:ext>
            </a:extLst>
          </p:cNvPr>
          <p:cNvSpPr/>
          <p:nvPr/>
        </p:nvSpPr>
        <p:spPr>
          <a:xfrm>
            <a:off x="5436096" y="2426230"/>
            <a:ext cx="1296144" cy="78674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B03B79-7A7C-4F06-9215-1BEDD382664D}"/>
              </a:ext>
            </a:extLst>
          </p:cNvPr>
          <p:cNvSpPr/>
          <p:nvPr/>
        </p:nvSpPr>
        <p:spPr>
          <a:xfrm>
            <a:off x="3275856" y="6381328"/>
            <a:ext cx="72008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6CA286-6108-4762-99D3-8412C6C723EB}"/>
              </a:ext>
            </a:extLst>
          </p:cNvPr>
          <p:cNvSpPr txBox="1"/>
          <p:nvPr/>
        </p:nvSpPr>
        <p:spPr>
          <a:xfrm>
            <a:off x="179512" y="1110806"/>
            <a:ext cx="871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양 옆의 장애물을 찾는 이유는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장애물의 거리를 통해 경로를 판단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하기 위해</a:t>
            </a:r>
          </a:p>
        </p:txBody>
      </p:sp>
    </p:spTree>
    <p:extLst>
      <p:ext uri="{BB962C8B-B14F-4D97-AF65-F5344CB8AC3E}">
        <p14:creationId xmlns:p14="http://schemas.microsoft.com/office/powerpoint/2010/main" val="1404873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ctrTitle" idx="4294967295"/>
          </p:nvPr>
        </p:nvSpPr>
        <p:spPr>
          <a:xfrm>
            <a:off x="323528" y="258291"/>
            <a:ext cx="8570913" cy="506413"/>
          </a:xfrm>
        </p:spPr>
        <p:txBody>
          <a:bodyPr/>
          <a:lstStyle/>
          <a:p>
            <a:pPr algn="l"/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5. 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무인자율주행시스템 아키텍처 및 알고리즘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판단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ko-KR" sz="2400" dirty="0"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37CAE20-03B5-4D06-B15D-9F119387100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987" y="2519775"/>
            <a:ext cx="4917454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1C2838-A8D9-4D2B-8D01-5ECE9C6F0F07}"/>
              </a:ext>
            </a:extLst>
          </p:cNvPr>
          <p:cNvSpPr/>
          <p:nvPr/>
        </p:nvSpPr>
        <p:spPr>
          <a:xfrm>
            <a:off x="5580112" y="4365104"/>
            <a:ext cx="1440160" cy="5760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DCA561-DD30-469E-B50F-EAC82AED705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10" y="2193260"/>
            <a:ext cx="3381375" cy="33959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6B770A-1614-4F24-9724-56FBEEE7DC81}"/>
              </a:ext>
            </a:extLst>
          </p:cNvPr>
          <p:cNvSpPr txBox="1"/>
          <p:nvPr/>
        </p:nvSpPr>
        <p:spPr>
          <a:xfrm>
            <a:off x="382993" y="5661248"/>
            <a:ext cx="3264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경로 재생성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CD9FC5-BDF3-47B0-ACAA-238D25DB4ADD}"/>
              </a:ext>
            </a:extLst>
          </p:cNvPr>
          <p:cNvSpPr txBox="1"/>
          <p:nvPr/>
        </p:nvSpPr>
        <p:spPr>
          <a:xfrm>
            <a:off x="25651" y="1294316"/>
            <a:ext cx="8714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설정한 최소 이동 거리보다 경로 이동거리가 더 커서 이동한 결과이다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최소 이동거리를 둔 이유는 경로의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빈번한 이동을 막기 위함이다 </a:t>
            </a:r>
          </a:p>
        </p:txBody>
      </p:sp>
    </p:spTree>
    <p:extLst>
      <p:ext uri="{BB962C8B-B14F-4D97-AF65-F5344CB8AC3E}">
        <p14:creationId xmlns:p14="http://schemas.microsoft.com/office/powerpoint/2010/main" val="2159791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ctrTitle" idx="4294967295"/>
          </p:nvPr>
        </p:nvSpPr>
        <p:spPr>
          <a:xfrm>
            <a:off x="323528" y="258291"/>
            <a:ext cx="8570913" cy="506413"/>
          </a:xfrm>
        </p:spPr>
        <p:txBody>
          <a:bodyPr/>
          <a:lstStyle/>
          <a:p>
            <a:pPr algn="l"/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5. 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무인자율주행시스템 아키텍처 및 알고리즘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lang="ko-KR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판단</a:t>
            </a:r>
            <a:r>
              <a:rPr lang="en-US" altLang="ko-KR" sz="24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ko-KR" sz="2400" dirty="0"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8D6AB6-941D-4D6F-85E3-14747F4A513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80764"/>
            <a:ext cx="7455346" cy="2073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70040D3-D278-479D-A771-09B9AC68A6A0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2" t="28607" r="20191" b="125"/>
          <a:stretch/>
        </p:blipFill>
        <p:spPr bwMode="auto">
          <a:xfrm>
            <a:off x="589487" y="3126493"/>
            <a:ext cx="2952750" cy="302669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9263B36-2BE8-4C18-8E6F-1242CBAB3CB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134136"/>
            <a:ext cx="2990850" cy="30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61CDA4-5A1E-442D-BB6F-BC775187FA4C}"/>
              </a:ext>
            </a:extLst>
          </p:cNvPr>
          <p:cNvSpPr txBox="1"/>
          <p:nvPr/>
        </p:nvSpPr>
        <p:spPr>
          <a:xfrm>
            <a:off x="5004047" y="6336926"/>
            <a:ext cx="299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보정 반영을 한 경우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046008-30E2-4F7F-AC5C-233BF3676478}"/>
              </a:ext>
            </a:extLst>
          </p:cNvPr>
          <p:cNvSpPr txBox="1"/>
          <p:nvPr/>
        </p:nvSpPr>
        <p:spPr>
          <a:xfrm>
            <a:off x="470649" y="6334235"/>
            <a:ext cx="319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보정 반영 하지 않을 경우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0EB2DE-4040-4A41-AC41-FB145BABDA2E}"/>
              </a:ext>
            </a:extLst>
          </p:cNvPr>
          <p:cNvSpPr txBox="1"/>
          <p:nvPr/>
        </p:nvSpPr>
        <p:spPr>
          <a:xfrm>
            <a:off x="1331640" y="945753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하이패스 통과 순서도 </a:t>
            </a:r>
          </a:p>
        </p:txBody>
      </p:sp>
    </p:spTree>
    <p:extLst>
      <p:ext uri="{BB962C8B-B14F-4D97-AF65-F5344CB8AC3E}">
        <p14:creationId xmlns:p14="http://schemas.microsoft.com/office/powerpoint/2010/main" val="6838534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156</Words>
  <Application>Microsoft Office PowerPoint</Application>
  <PresentationFormat>화면 슬라이드 쇼(4:3)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HY헤드라인M</vt:lpstr>
      <vt:lpstr>맑은 고딕</vt:lpstr>
      <vt:lpstr>현대하모니 M</vt:lpstr>
      <vt:lpstr>Arial</vt:lpstr>
      <vt:lpstr>Wingdings</vt:lpstr>
      <vt:lpstr>1_Office 테마</vt:lpstr>
      <vt:lpstr>5. 무인자율주행시스템 아키텍처 및 알고리즘 (판단)</vt:lpstr>
      <vt:lpstr>5. 무인자율주행시스템 아키텍처 및 알고리즘 (판단)</vt:lpstr>
      <vt:lpstr>5. 무인자율주행시스템 아키텍처 및 알고리즘 (판단)</vt:lpstr>
      <vt:lpstr>5. 무인자율주행시스템 아키텍처 및 알고리즘 (판단)</vt:lpstr>
      <vt:lpstr>5. 무인자율주행시스템 아키텍처 및 알고리즘 (판단)</vt:lpstr>
      <vt:lpstr>5. 무인자율주행시스템 아키텍처 및 알고리즘 (판단)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kwanwoong</dc:creator>
  <cp:lastModifiedBy>5359936@stu.kmu.ac.kr</cp:lastModifiedBy>
  <cp:revision>158</cp:revision>
  <cp:lastPrinted>2018-08-14T07:11:09Z</cp:lastPrinted>
  <dcterms:created xsi:type="dcterms:W3CDTF">2018-06-25T05:22:04Z</dcterms:created>
  <dcterms:modified xsi:type="dcterms:W3CDTF">2020-08-03T16:26:07Z</dcterms:modified>
</cp:coreProperties>
</file>